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12"/>
  </p:notesMasterIdLst>
  <p:handoutMasterIdLst>
    <p:handoutMasterId r:id="rId13"/>
  </p:handoutMasterIdLst>
  <p:sldIdLst>
    <p:sldId id="312" r:id="rId5"/>
    <p:sldId id="304" r:id="rId6"/>
    <p:sldId id="307" r:id="rId7"/>
    <p:sldId id="281" r:id="rId8"/>
    <p:sldId id="282" r:id="rId9"/>
    <p:sldId id="317" r:id="rId10"/>
    <p:sldId id="297" r:id="rId11"/>
  </p:sldIdLst>
  <p:sldSz cx="12192000" cy="6858000"/>
  <p:notesSz cx="13716000" cy="24384000"/>
  <p:defaultTextStyle>
    <a:defPPr rtl="0">
      <a:defRPr lang="pt-BR"/>
    </a:defPPr>
    <a:lvl1pPr marL="0" algn="l" defTabSz="4572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5388" autoAdjust="0"/>
  </p:normalViewPr>
  <p:slideViewPr>
    <p:cSldViewPr snapToGrid="0" snapToObjects="1">
      <p:cViewPr varScale="1">
        <p:scale>
          <a:sx n="81" d="100"/>
          <a:sy n="81" d="100"/>
        </p:scale>
        <p:origin x="754" y="62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37" d="100"/>
          <a:sy n="37" d="100"/>
        </p:scale>
        <p:origin x="4134" y="11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pt-BR" sz="1200"/>
            </a:lvl1pPr>
          </a:lstStyle>
          <a:p>
            <a:pPr rtl="0"/>
            <a:endParaRPr lang="pt-BR" dirty="0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pt-BR" sz="1200"/>
            </a:lvl1pPr>
          </a:lstStyle>
          <a:p>
            <a:pPr rtl="0"/>
            <a:fld id="{5DB32ED1-F310-4D41-8674-6BB1DBCD8C01}" type="datetimeyyyy">
              <a:rPr lang="pt-BR" smtClean="0"/>
              <a:t>2026</a:t>
            </a:fld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pt-BR" sz="1200"/>
            </a:lvl1pPr>
          </a:lstStyle>
          <a:p>
            <a:pPr rtl="0"/>
            <a:endParaRPr lang="pt-BR" dirty="0"/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pt-BR" sz="1200"/>
            </a:lvl1pPr>
          </a:lstStyle>
          <a:p>
            <a:pPr rtl="0"/>
            <a:fld id="{420BD0AB-C59E-4A46-83D3-F07787446BA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lang="pt-BR"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lang="pt-BR"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lang="pt-BR"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lang="pt-BR"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lang="pt-BR"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lang="pt-BR"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lang="pt-BR"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lang="pt-BR"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lang="pt-BR"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87736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949312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686530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193977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79146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31307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m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20" name="Forma livre: Forma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lvl="0" rtl="0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18" name="Forma livre: Forma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lvl="0" rtl="0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rtlCol="0" anchor="ctr" anchorCtr="0">
            <a:noAutofit/>
          </a:bodyPr>
          <a:lstStyle>
            <a:lvl1pPr algn="ctr">
              <a:lnSpc>
                <a:spcPct val="100000"/>
              </a:lnSpc>
              <a:defRPr lang="pt-BR" sz="3600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o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orma Livre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8" name="Forma Livre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</p:grpSp>
      <p:grpSp>
        <p:nvGrpSpPr>
          <p:cNvPr id="9" name="Grupo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orma Livre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1" name="Forma Livre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</p:grpSp>
      <p:sp>
        <p:nvSpPr>
          <p:cNvPr id="14" name="Imagem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pt-BR" sz="3600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13" name="Espaço Reservado para Conteúdo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 rtlCol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lang="pt-BR" sz="2400"/>
            </a:lvl1pPr>
            <a:lvl2pPr marL="347472">
              <a:lnSpc>
                <a:spcPct val="150000"/>
              </a:lnSpc>
              <a:spcBef>
                <a:spcPts val="0"/>
              </a:spcBef>
              <a:defRPr lang="pt-BR" sz="2000"/>
            </a:lvl2pPr>
            <a:lvl3pPr marL="685800">
              <a:lnSpc>
                <a:spcPct val="150000"/>
              </a:lnSpc>
              <a:spcBef>
                <a:spcPts val="0"/>
              </a:spcBef>
              <a:defRPr lang="pt-BR" sz="1800"/>
            </a:lvl3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</p:txBody>
      </p:sp>
      <p:sp>
        <p:nvSpPr>
          <p:cNvPr id="3" name="Espaço Reservado para o Número do Slide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pt-BR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çã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pt-BR"/>
            </a:defPPr>
          </a:lstStyle>
          <a:p>
            <a:pPr algn="ctr" rtl="0"/>
            <a:endParaRPr lang="pt-BR" sz="450" dirty="0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sz="1600" dirty="0"/>
          </a:p>
        </p:txBody>
      </p:sp>
      <p:grpSp>
        <p:nvGrpSpPr>
          <p:cNvPr id="18" name="Grupo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orma livre: Forma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lvl="0" rtl="0"/>
              <a:endParaRPr lang="pt-BR" dirty="0"/>
            </a:p>
          </p:txBody>
        </p:sp>
        <p:sp>
          <p:nvSpPr>
            <p:cNvPr id="15" name="Forma livre: Forma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lvl="0" rtl="0"/>
              <a:endParaRPr lang="pt-BR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m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</p:grpSp>
      <p:sp>
        <p:nvSpPr>
          <p:cNvPr id="2" name="Título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rtlCol="0" anchor="ctr">
            <a:noAutofit/>
          </a:bodyPr>
          <a:lstStyle>
            <a:lvl1pPr algn="l">
              <a:lnSpc>
                <a:spcPct val="100000"/>
              </a:lnSpc>
              <a:defRPr lang="pt-BR" sz="3600" b="1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8" name="Espaço Reservado para Imagem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 rtlCol="0">
            <a:normAutofit/>
          </a:bodyPr>
          <a:lstStyle>
            <a:lvl1pPr marL="0" indent="0">
              <a:buNone/>
              <a:defRPr lang="pt-BR" sz="1800"/>
            </a:lvl1pPr>
          </a:lstStyle>
          <a:p>
            <a:pPr lvl="0" rtl="0"/>
            <a:r>
              <a:rPr lang="pt-BR"/>
              <a:t>Clique para adicionar uma imagem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beçalho da 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tângulo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pt-BR"/>
            </a:defPPr>
          </a:lstStyle>
          <a:p>
            <a:pPr algn="ctr" rtl="0"/>
            <a:endParaRPr lang="pt-BR" sz="450" dirty="0"/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sz="1600" dirty="0"/>
          </a:p>
        </p:txBody>
      </p:sp>
      <p:sp>
        <p:nvSpPr>
          <p:cNvPr id="36" name="Forma Livre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lvl="0" rtl="0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33" name="Forma Livre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pt-BR"/>
            </a:defPPr>
          </a:lstStyle>
          <a:p>
            <a:pPr lvl="0" algn="ctr" rtl="0"/>
            <a:endParaRPr lang="pt-BR" dirty="0"/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pt-BR" sz="3600"/>
            </a:lvl1pPr>
          </a:lstStyle>
          <a:p>
            <a:pPr rtl="0"/>
            <a:r>
              <a:rPr lang="pt-BR"/>
              <a:t>Clique para adicionar o texto</a:t>
            </a:r>
          </a:p>
        </p:txBody>
      </p:sp>
      <p:sp>
        <p:nvSpPr>
          <p:cNvPr id="5" name="Espaço Reservado para Conteúdo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pt-BR" sz="2400"/>
            </a:lvl1pPr>
            <a:lvl2pPr marL="347472">
              <a:lnSpc>
                <a:spcPct val="100000"/>
              </a:lnSpc>
              <a:spcBef>
                <a:spcPts val="0"/>
              </a:spcBef>
              <a:defRPr lang="pt-BR" sz="2400"/>
            </a:lvl2pPr>
            <a:lvl3pPr marL="685800">
              <a:lnSpc>
                <a:spcPct val="100000"/>
              </a:lnSpc>
              <a:spcBef>
                <a:spcPts val="0"/>
              </a:spcBef>
              <a:defRPr lang="pt-BR" sz="2400"/>
            </a:lvl3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</p:txBody>
      </p:sp>
      <p:sp>
        <p:nvSpPr>
          <p:cNvPr id="52" name="Espaço Reservado para Imagem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 rtlCol="0">
            <a:normAutofit/>
          </a:bodyPr>
          <a:lstStyle>
            <a:lvl1pPr marL="0" indent="0">
              <a:buNone/>
              <a:defRPr lang="pt-BR" sz="1800"/>
            </a:lvl1pPr>
          </a:lstStyle>
          <a:p>
            <a:pPr lvl="0" rtl="0"/>
            <a:r>
              <a:rPr lang="pt-BR"/>
              <a:t>Clique para adicionar uma imagem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m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53" name="Forma livre: Forma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29" name="Forma Livre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31" name="Forma Livre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33" name="Imagem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rtlCol="0" anchor="b" anchorCtr="0">
            <a:noAutofit/>
          </a:bodyPr>
          <a:lstStyle>
            <a:lvl1pPr algn="l">
              <a:lnSpc>
                <a:spcPct val="100000"/>
              </a:lnSpc>
              <a:defRPr lang="pt-BR" sz="3600" b="1">
                <a:latin typeface="+mj-lt"/>
                <a:cs typeface="Arial" panose="020B0604020202020204" pitchFamily="34" charset="0"/>
              </a:defRPr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13" name="Espaço Reservado para Conteúdo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 rtlCol="0">
            <a:normAutofit/>
          </a:bodyPr>
          <a:lstStyle>
            <a:lvl1pPr>
              <a:spcBef>
                <a:spcPts val="1000"/>
              </a:spcBef>
              <a:defRPr lang="pt-BR" sz="1800"/>
            </a:lvl1pPr>
            <a:lvl2pPr>
              <a:spcBef>
                <a:spcPts val="1000"/>
              </a:spcBef>
              <a:defRPr lang="pt-BR" sz="1800"/>
            </a:lvl2pPr>
            <a:lvl3pPr>
              <a:spcBef>
                <a:spcPts val="1000"/>
              </a:spcBef>
              <a:defRPr lang="pt-BR" sz="1800"/>
            </a:lvl3pPr>
            <a:lvl4pPr>
              <a:spcBef>
                <a:spcPts val="1000"/>
              </a:spcBef>
              <a:defRPr lang="pt-BR" sz="1800"/>
            </a:lvl4pPr>
            <a:lvl5pPr>
              <a:spcBef>
                <a:spcPts val="1000"/>
              </a:spcBef>
              <a:defRPr lang="pt-BR" sz="1800"/>
            </a:lvl5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18" name="Espaço Reservado para o Número do Slide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pt-BR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açã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ítulo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pt-BR" sz="3600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11" name="Imagem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pic>
        <p:nvPicPr>
          <p:cNvPr id="13" name="Imagem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orma livre: Forma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17" name="Imagem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pic>
        <p:nvPicPr>
          <p:cNvPr id="19" name="Imagem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Espaço Reservado para o Número do Slide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lvl1pPr>
              <a:defRPr lang="pt-BR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pt-BR" smtClean="0"/>
              <a:pPr rtl="0"/>
              <a:t>‹nº›</a:t>
            </a:fld>
            <a:endParaRPr lang="pt-BR" dirty="0"/>
          </a:p>
        </p:txBody>
      </p:sp>
      <p:sp>
        <p:nvSpPr>
          <p:cNvPr id="2" name="Espaço Reservado para Conteúdo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pt-BR" sz="2400"/>
            </a:lvl1pPr>
            <a:lvl2pPr marL="347472">
              <a:lnSpc>
                <a:spcPct val="100000"/>
              </a:lnSpc>
              <a:spcBef>
                <a:spcPts val="0"/>
              </a:spcBef>
              <a:defRPr lang="pt-BR" sz="2400"/>
            </a:lvl2pPr>
            <a:lvl3pPr marL="685800">
              <a:lnSpc>
                <a:spcPct val="100000"/>
              </a:lnSpc>
              <a:spcBef>
                <a:spcPts val="0"/>
              </a:spcBef>
              <a:defRPr lang="pt-BR" sz="2400"/>
            </a:lvl3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çã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orma Livre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lvl="0" rtl="0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18" name="Forma Livre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lvl="0" rtl="0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14" name="Forma Livre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lvl="0" rtl="0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16" name="Forma Livre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lvl="0" rtl="0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20" name="Título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pt-BR" sz="3600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19" name="Espaço Reservado para o Número do Slide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lvl1pPr>
              <a:defRPr lang="pt-BR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pt-BR" smtClean="0"/>
              <a:pPr rtl="0"/>
              <a:t>‹nº›</a:t>
            </a:fld>
            <a:endParaRPr lang="pt-BR" dirty="0"/>
          </a:p>
        </p:txBody>
      </p:sp>
      <p:sp>
        <p:nvSpPr>
          <p:cNvPr id="23" name="Espaço Reservado para Conteúdo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1000"/>
              </a:spcBef>
              <a:buNone/>
              <a:defRPr lang="pt-BR" sz="1800"/>
            </a:lvl1pPr>
            <a:lvl2pPr marL="283464" indent="-283464">
              <a:spcBef>
                <a:spcPts val="1000"/>
              </a:spcBef>
              <a:defRPr lang="pt-BR" sz="1800"/>
            </a:lvl2pPr>
            <a:lvl3pPr marL="283464" indent="-283464">
              <a:spcBef>
                <a:spcPts val="1000"/>
              </a:spcBef>
              <a:defRPr lang="pt-BR" sz="1800"/>
            </a:lvl3pPr>
            <a:lvl4pPr marL="283464" indent="-283464">
              <a:spcBef>
                <a:spcPts val="1000"/>
              </a:spcBef>
              <a:defRPr lang="pt-BR" sz="1800"/>
            </a:lvl4pPr>
            <a:lvl5pPr marL="283464" indent="-283464">
              <a:spcBef>
                <a:spcPts val="1000"/>
              </a:spcBef>
              <a:defRPr lang="pt-BR" sz="1800"/>
            </a:lvl5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25" name="Espaço Reservado para Conteúdo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1000"/>
              </a:spcBef>
              <a:buNone/>
              <a:defRPr lang="pt-BR" sz="1800"/>
            </a:lvl1pPr>
            <a:lvl2pPr marL="283464" indent="-283464">
              <a:spcBef>
                <a:spcPts val="1000"/>
              </a:spcBef>
              <a:defRPr lang="pt-BR" sz="1800"/>
            </a:lvl2pPr>
            <a:lvl3pPr marL="283464" indent="-283464">
              <a:spcBef>
                <a:spcPts val="1000"/>
              </a:spcBef>
              <a:defRPr lang="pt-BR" sz="1800"/>
            </a:lvl3pPr>
            <a:lvl4pPr marL="283464" indent="-283464">
              <a:spcBef>
                <a:spcPts val="1000"/>
              </a:spcBef>
              <a:defRPr lang="pt-BR" sz="1800"/>
            </a:lvl4pPr>
            <a:lvl5pPr marL="283464" indent="-283464">
              <a:spcBef>
                <a:spcPts val="1000"/>
              </a:spcBef>
              <a:defRPr lang="pt-BR" sz="1800"/>
            </a:lvl5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nha do Temp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tângulo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pt-BR"/>
            </a:defPPr>
          </a:lstStyle>
          <a:p>
            <a:pPr algn="ctr" rtl="0"/>
            <a:endParaRPr lang="pt-BR" sz="450" dirty="0"/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sz="1600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 rtlCol="0"/>
          <a:lstStyle>
            <a:lvl1pPr algn="l">
              <a:lnSpc>
                <a:spcPct val="100000"/>
              </a:lnSpc>
              <a:defRPr lang="pt-BR" sz="3600">
                <a:solidFill>
                  <a:schemeClr val="accent6"/>
                </a:solidFill>
              </a:defRPr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5" name="Espaço Reservado para Conteúdo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 rtlCol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lang="pt-BR"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lang="pt-BR"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lang="pt-BR"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lang="pt-BR" sz="1800"/>
            </a:lvl4pPr>
            <a:lvl5pPr indent="-283464">
              <a:spcBef>
                <a:spcPts val="1000"/>
              </a:spcBef>
              <a:defRPr lang="pt-BR" sz="1800"/>
            </a:lvl5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1000"/>
              </a:spcBef>
              <a:buNone/>
              <a:defRPr lang="pt-BR" sz="1800"/>
            </a:lvl1pPr>
            <a:lvl2pPr indent="-283464">
              <a:spcBef>
                <a:spcPts val="1000"/>
              </a:spcBef>
              <a:defRPr lang="pt-BR" sz="1800"/>
            </a:lvl2pPr>
            <a:lvl3pPr indent="-283464">
              <a:spcBef>
                <a:spcPts val="1000"/>
              </a:spcBef>
              <a:defRPr lang="pt-BR" sz="1800"/>
            </a:lvl3pPr>
            <a:lvl4pPr indent="-283464">
              <a:spcBef>
                <a:spcPts val="1000"/>
              </a:spcBef>
              <a:defRPr lang="pt-BR" sz="1800"/>
            </a:lvl4pPr>
            <a:lvl5pPr indent="-283464">
              <a:spcBef>
                <a:spcPts val="1000"/>
              </a:spcBef>
              <a:defRPr lang="pt-BR" sz="1800"/>
            </a:lvl5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31" name="Espaço Reservado para Imagem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rtlCol="0">
            <a:noAutofit/>
          </a:bodyPr>
          <a:lstStyle>
            <a:lvl1pPr marL="0" indent="0">
              <a:buNone/>
              <a:defRPr lang="pt-BR" sz="1800"/>
            </a:lvl1pPr>
          </a:lstStyle>
          <a:p>
            <a:pPr lvl="0" rtl="0"/>
            <a:r>
              <a:rPr lang="pt-BR"/>
              <a:t>Clique para adicionar uma imagem</a:t>
            </a:r>
          </a:p>
        </p:txBody>
      </p:sp>
      <p:grpSp>
        <p:nvGrpSpPr>
          <p:cNvPr id="32" name="Grupo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orma livre: Forma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lvl="0" rtl="0"/>
              <a:endParaRPr lang="pt-BR" dirty="0"/>
            </a:p>
          </p:txBody>
        </p:sp>
        <p:sp>
          <p:nvSpPr>
            <p:cNvPr id="21" name="Forma livre: Forma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lvl="0" rtl="0"/>
              <a:endParaRPr lang="pt-BR" dirty="0">
                <a:solidFill>
                  <a:schemeClr val="tx1"/>
                </a:solidFill>
              </a:endParaRPr>
            </a:p>
          </p:txBody>
        </p:sp>
        <p:sp>
          <p:nvSpPr>
            <p:cNvPr id="22" name="Forma livre: Forma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lvl="0" rtl="0"/>
              <a:endParaRPr lang="pt-BR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m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</p:grpSp>
      <p:sp>
        <p:nvSpPr>
          <p:cNvPr id="44" name="Espaço Reservado para o Número do Slide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pt-BR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sum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rma Livre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26" name="Imagem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14" name="Forma Livre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pic>
        <p:nvPicPr>
          <p:cNvPr id="21" name="Imagem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orma Livre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pt-BR" sz="3600" b="1"/>
            </a:lvl1pPr>
          </a:lstStyle>
          <a:p>
            <a:pPr rtl="0"/>
            <a:r>
              <a:rPr lang="pt-BR"/>
              <a:t>Clique para editar o título Mestre</a:t>
            </a:r>
            <a:endParaRPr lang="pt-BR" dirty="0"/>
          </a:p>
        </p:txBody>
      </p:sp>
      <p:sp>
        <p:nvSpPr>
          <p:cNvPr id="30" name="Espaço Reservado para Conteúdo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pt-BR" sz="2400"/>
            </a:lvl1pPr>
            <a:lvl2pPr marL="347472">
              <a:lnSpc>
                <a:spcPct val="100000"/>
              </a:lnSpc>
              <a:spcBef>
                <a:spcPts val="0"/>
              </a:spcBef>
              <a:defRPr lang="pt-BR" sz="2400"/>
            </a:lvl2pPr>
            <a:lvl3pPr marL="685800">
              <a:lnSpc>
                <a:spcPct val="100000"/>
              </a:lnSpc>
              <a:spcBef>
                <a:spcPts val="0"/>
              </a:spcBef>
              <a:defRPr lang="pt-BR" sz="2400"/>
            </a:lvl3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</p:txBody>
      </p:sp>
      <p:sp>
        <p:nvSpPr>
          <p:cNvPr id="10" name="Espaço Reservado para Imagem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 rtlCol="0">
            <a:normAutofit/>
          </a:bodyPr>
          <a:lstStyle>
            <a:lvl1pPr marL="0" indent="0">
              <a:buNone/>
              <a:defRPr lang="pt-BR" sz="1800"/>
            </a:lvl1pPr>
          </a:lstStyle>
          <a:p>
            <a:pPr rtl="0"/>
            <a:r>
              <a:rPr lang="pt-BR"/>
              <a:t>Clique no ícone para adicionar uma imagem</a:t>
            </a:r>
            <a:endParaRPr lang="pt-BR" dirty="0"/>
          </a:p>
        </p:txBody>
      </p:sp>
      <p:sp>
        <p:nvSpPr>
          <p:cNvPr id="20" name="Espaço Reservado para o Número do Slide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lvl1pPr>
              <a:defRPr lang="pt-BR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nha do Temp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orma Livre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lvl="0" rtl="0"/>
            <a:endParaRPr lang="pt-BR" dirty="0"/>
          </a:p>
        </p:txBody>
      </p:sp>
      <p:sp>
        <p:nvSpPr>
          <p:cNvPr id="10" name="Forma Livre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lvl="0" rtl="0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30" name="Imagem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 rtlCol="0"/>
          <a:lstStyle>
            <a:lvl1pPr algn="l">
              <a:lnSpc>
                <a:spcPct val="100000"/>
              </a:lnSpc>
              <a:defRPr lang="pt-BR" sz="3600">
                <a:solidFill>
                  <a:schemeClr val="accent6"/>
                </a:solidFill>
              </a:defRPr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4" name="Espaço Reservado para Texto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rtlCol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lang="pt-BR" sz="1800"/>
            </a:lvl1pPr>
          </a:lstStyle>
          <a:p>
            <a:pPr rtl="0"/>
            <a:r>
              <a:rPr lang="pt-BR"/>
              <a:t>Clique para adicionar um subtítulo</a:t>
            </a:r>
          </a:p>
        </p:txBody>
      </p:sp>
      <p:sp>
        <p:nvSpPr>
          <p:cNvPr id="9" name="Espaço Reservado para Conteúdo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 rtlCol="0">
            <a:normAutofit/>
          </a:bodyPr>
          <a:lstStyle>
            <a:lvl1pPr>
              <a:defRPr lang="pt-BR" sz="1800"/>
            </a:lvl1pPr>
            <a:lvl2pPr>
              <a:defRPr lang="pt-BR" sz="1800"/>
            </a:lvl2pPr>
            <a:lvl3pPr>
              <a:defRPr lang="pt-BR" sz="1800"/>
            </a:lvl3pPr>
            <a:lvl4pPr>
              <a:defRPr lang="pt-BR" sz="1800"/>
            </a:lvl4pPr>
            <a:lvl5pPr>
              <a:defRPr lang="pt-BR" sz="1800"/>
            </a:lvl5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20" name="Espaço Reservado para o Número do Slide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pt-BR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sum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Elemento gráfico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pt-BR" sz="3600" b="1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49" name="Forma Livre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16" name="Espaço Reservado para Conteúdo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 rtlCol="0">
            <a:normAutofit/>
          </a:bodyPr>
          <a:lstStyle>
            <a:lvl1pPr>
              <a:spcBef>
                <a:spcPts val="1000"/>
              </a:spcBef>
              <a:defRPr lang="pt-BR" sz="1800"/>
            </a:lvl1pPr>
            <a:lvl2pPr>
              <a:spcBef>
                <a:spcPts val="1000"/>
              </a:spcBef>
              <a:defRPr lang="pt-BR" sz="1800"/>
            </a:lvl2pPr>
            <a:lvl3pPr>
              <a:spcBef>
                <a:spcPts val="1000"/>
              </a:spcBef>
              <a:defRPr lang="pt-BR" sz="1800"/>
            </a:lvl3pPr>
            <a:lvl4pPr>
              <a:spcBef>
                <a:spcPts val="1000"/>
              </a:spcBef>
              <a:defRPr lang="pt-BR" sz="1800"/>
            </a:lvl4pPr>
            <a:lvl5pPr>
              <a:spcBef>
                <a:spcPts val="1000"/>
              </a:spcBef>
              <a:defRPr lang="pt-BR" sz="1800"/>
            </a:lvl5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18" name="Espaço Reservado para Conteúdo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 rtlCol="0">
            <a:normAutofit/>
          </a:bodyPr>
          <a:lstStyle>
            <a:lvl1pPr>
              <a:spcBef>
                <a:spcPts val="1000"/>
              </a:spcBef>
              <a:defRPr lang="pt-BR" sz="1800"/>
            </a:lvl1pPr>
            <a:lvl2pPr>
              <a:spcBef>
                <a:spcPts val="1000"/>
              </a:spcBef>
              <a:defRPr lang="pt-BR" sz="1800"/>
            </a:lvl2pPr>
            <a:lvl3pPr>
              <a:spcBef>
                <a:spcPts val="1000"/>
              </a:spcBef>
              <a:defRPr lang="pt-BR" sz="1800"/>
            </a:lvl3pPr>
            <a:lvl4pPr>
              <a:spcBef>
                <a:spcPts val="1000"/>
              </a:spcBef>
              <a:defRPr lang="pt-BR" sz="1800"/>
            </a:lvl4pPr>
            <a:lvl5pPr>
              <a:spcBef>
                <a:spcPts val="1000"/>
              </a:spcBef>
              <a:defRPr lang="pt-BR" sz="1800"/>
            </a:lvl5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27" name="Espaço Reservado para o Número do Slide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lvl1pPr>
              <a:defRPr lang="pt-BR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pt-BR" smtClean="0"/>
              <a:pPr rtl="0"/>
              <a:t>‹nº›</a:t>
            </a:fld>
            <a:endParaRPr lang="pt-BR" dirty="0"/>
          </a:p>
        </p:txBody>
      </p:sp>
      <p:pic>
        <p:nvPicPr>
          <p:cNvPr id="43" name="Elemento gráfico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Elemento gráfico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m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nha do Temp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tângulo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pt-BR"/>
            </a:defPPr>
          </a:lstStyle>
          <a:p>
            <a:pPr algn="ctr" rtl="0"/>
            <a:endParaRPr lang="pt-BR" sz="450" dirty="0"/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sz="1600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 rtlCol="0"/>
          <a:lstStyle>
            <a:lvl1pPr algn="ctr">
              <a:lnSpc>
                <a:spcPct val="100000"/>
              </a:lnSpc>
              <a:defRPr lang="pt-BR" sz="3600">
                <a:solidFill>
                  <a:schemeClr val="accent6"/>
                </a:solidFill>
              </a:defRPr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14" name="Espaço Reservado para Conteúdo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 rtlCol="0">
            <a:normAutofit/>
          </a:bodyPr>
          <a:lstStyle>
            <a:lvl1pPr>
              <a:spcBef>
                <a:spcPts val="1000"/>
              </a:spcBef>
              <a:defRPr lang="pt-BR" sz="1800"/>
            </a:lvl1pPr>
            <a:lvl2pPr>
              <a:spcBef>
                <a:spcPts val="1000"/>
              </a:spcBef>
              <a:defRPr lang="pt-BR" sz="1800"/>
            </a:lvl2pPr>
            <a:lvl3pPr>
              <a:spcBef>
                <a:spcPts val="1000"/>
              </a:spcBef>
              <a:defRPr lang="pt-BR" sz="1800"/>
            </a:lvl3pPr>
            <a:lvl4pPr>
              <a:spcBef>
                <a:spcPts val="1000"/>
              </a:spcBef>
              <a:defRPr lang="pt-BR" sz="1800"/>
            </a:lvl4pPr>
            <a:lvl5pPr>
              <a:spcBef>
                <a:spcPts val="1000"/>
              </a:spcBef>
              <a:defRPr lang="pt-BR" sz="1800"/>
            </a:lvl5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16" name="Espaço Reservado para o Número do Slide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pt-BR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echamento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orma livre: Forma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lvl="0" rtl="0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19" name="Forma livre: Forma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pic>
        <p:nvPicPr>
          <p:cNvPr id="9" name="Imagem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rtlCol="0" anchor="b" anchorCtr="0">
            <a:noAutofit/>
          </a:bodyPr>
          <a:lstStyle>
            <a:lvl1pPr algn="l">
              <a:lnSpc>
                <a:spcPct val="100000"/>
              </a:lnSpc>
              <a:defRPr lang="pt-BR" sz="3600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6" name="Subtítulo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rtlCol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lang="pt-BR" sz="2400"/>
            </a:lvl1pPr>
            <a:lvl2pPr marL="457200" indent="0" algn="ctr">
              <a:buNone/>
              <a:defRPr lang="pt-BR" sz="2000"/>
            </a:lvl2pPr>
            <a:lvl3pPr marL="914400" indent="0" algn="ctr">
              <a:buNone/>
              <a:defRPr lang="pt-BR" sz="1800"/>
            </a:lvl3pPr>
            <a:lvl4pPr marL="1371600" indent="0" algn="ctr">
              <a:buNone/>
              <a:defRPr lang="pt-BR" sz="1600"/>
            </a:lvl4pPr>
            <a:lvl5pPr marL="1828800" indent="0" algn="ctr">
              <a:buNone/>
              <a:defRPr lang="pt-BR" sz="1600"/>
            </a:lvl5pPr>
            <a:lvl6pPr marL="2286000" indent="0" algn="ctr">
              <a:buNone/>
              <a:defRPr lang="pt-BR" sz="1600"/>
            </a:lvl6pPr>
            <a:lvl7pPr marL="2743200" indent="0" algn="ctr">
              <a:buNone/>
              <a:defRPr lang="pt-BR" sz="1600"/>
            </a:lvl7pPr>
            <a:lvl8pPr marL="3200400" indent="0" algn="ctr">
              <a:buNone/>
              <a:defRPr lang="pt-BR" sz="1600"/>
            </a:lvl8pPr>
            <a:lvl9pPr marL="3657600" indent="0" algn="ctr">
              <a:buNone/>
              <a:defRPr lang="pt-BR" sz="1600"/>
            </a:lvl9pPr>
          </a:lstStyle>
          <a:p>
            <a:pPr rtl="0"/>
            <a:r>
              <a:rPr lang="pt-BR"/>
              <a:t>Clique para adicionar um subtítulo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rma Livre: Forma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lvl="0" rtl="0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9" name="Forma livre: Forma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lvl="0" rtl="0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 rtlCol="0" anchor="ctr" anchorCtr="0"/>
          <a:lstStyle>
            <a:defPPr>
              <a:defRPr lang="pt-BR"/>
            </a:def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5" name="Espaço Reservado para o Número do Slid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pt-BR">
                <a:latin typeface="+mn-lt"/>
              </a:defRPr>
            </a:lvl1pPr>
          </a:lstStyle>
          <a:p>
            <a:pPr rtl="0"/>
            <a:fld id="{48F63A3B-78C7-47BE-AE5E-E10140E04643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rma livre: Forma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lvl="0" rtl="0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8" name="Forma livre: Forma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lvl="0" rtl="0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pt-BR">
                <a:latin typeface="+mn-lt"/>
              </a:defRPr>
            </a:lvl1pPr>
          </a:lstStyle>
          <a:p>
            <a:pPr rtl="0"/>
            <a:fld id="{48F63A3B-78C7-47BE-AE5E-E10140E04643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rma livre: Forma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lvl="0" rtl="0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rtlCol="0" anchor="b"/>
          <a:lstStyle>
            <a:lvl1pPr>
              <a:lnSpc>
                <a:spcPct val="100000"/>
              </a:lnSpc>
              <a:defRPr lang="pt-BR" sz="3200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pt-BR">
                <a:latin typeface="+mn-lt"/>
              </a:defRPr>
            </a:lvl1pPr>
          </a:lstStyle>
          <a:p>
            <a:pPr rtl="0"/>
            <a:fld id="{48F63A3B-78C7-47BE-AE5E-E10140E04643}" type="slidenum">
              <a:rPr lang="pt-BR" smtClean="0"/>
              <a:pPr rtl="0"/>
              <a:t>‹nº›</a:t>
            </a:fld>
            <a:endParaRPr lang="pt-BR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 rtlCol="0"/>
          <a:lstStyle>
            <a:lvl1pPr marL="0" indent="0">
              <a:buNone/>
              <a:defRPr lang="pt-BR" sz="1600"/>
            </a:lvl1pPr>
            <a:lvl2pPr marL="457200" indent="0">
              <a:buNone/>
              <a:defRPr lang="pt-BR" sz="1400"/>
            </a:lvl2pPr>
            <a:lvl3pPr marL="914400" indent="0">
              <a:buNone/>
              <a:defRPr lang="pt-BR" sz="1200"/>
            </a:lvl3pPr>
            <a:lvl4pPr marL="1371600" indent="0">
              <a:buNone/>
              <a:defRPr lang="pt-BR" sz="1000"/>
            </a:lvl4pPr>
            <a:lvl5pPr marL="1828800" indent="0">
              <a:buNone/>
              <a:defRPr lang="pt-BR" sz="1000"/>
            </a:lvl5pPr>
            <a:lvl6pPr marL="2286000" indent="0">
              <a:buNone/>
              <a:defRPr lang="pt-BR" sz="1000"/>
            </a:lvl6pPr>
            <a:lvl7pPr marL="2743200" indent="0">
              <a:buNone/>
              <a:defRPr lang="pt-BR" sz="1000"/>
            </a:lvl7pPr>
            <a:lvl8pPr marL="3200400" indent="0">
              <a:buNone/>
              <a:defRPr lang="pt-BR" sz="1000"/>
            </a:lvl8pPr>
            <a:lvl9pPr marL="3657600" indent="0">
              <a:buNone/>
              <a:defRPr lang="pt-BR" sz="1000"/>
            </a:lvl9pPr>
          </a:lstStyle>
          <a:p>
            <a:pPr lvl="0" rtl="0"/>
            <a:r>
              <a:rPr lang="pt-BR"/>
              <a:t>Clique para adicionar o texto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 rtlCol="0"/>
          <a:lstStyle>
            <a:lvl1pPr>
              <a:defRPr lang="pt-BR" sz="3200"/>
            </a:lvl1pPr>
            <a:lvl2pPr>
              <a:defRPr lang="pt-BR" sz="2800"/>
            </a:lvl2pPr>
            <a:lvl3pPr>
              <a:defRPr lang="pt-BR" sz="2400"/>
            </a:lvl3pPr>
            <a:lvl4pPr>
              <a:defRPr lang="pt-BR" sz="2000"/>
            </a:lvl4pPr>
            <a:lvl5pPr>
              <a:defRPr lang="pt-BR" sz="2000"/>
            </a:lvl5pPr>
            <a:lvl6pPr>
              <a:defRPr lang="pt-BR" sz="2000"/>
            </a:lvl6pPr>
            <a:lvl7pPr>
              <a:defRPr lang="pt-BR" sz="2000"/>
            </a:lvl7pPr>
            <a:lvl8pPr>
              <a:defRPr lang="pt-BR" sz="2000"/>
            </a:lvl8pPr>
            <a:lvl9pPr>
              <a:defRPr lang="pt-BR" sz="2000"/>
            </a:lvl9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rma livre: Forma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lvl="0" rtl="0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rtlCol="0" anchor="b"/>
          <a:lstStyle>
            <a:lvl1pPr>
              <a:lnSpc>
                <a:spcPct val="100000"/>
              </a:lnSpc>
              <a:defRPr lang="pt-BR" sz="3200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pt-BR">
                <a:latin typeface="+mn-lt"/>
              </a:defRPr>
            </a:lvl1pPr>
          </a:lstStyle>
          <a:p>
            <a:pPr rtl="0"/>
            <a:fld id="{48F63A3B-78C7-47BE-AE5E-E10140E04643}" type="slidenum">
              <a:rPr lang="pt-BR" smtClean="0"/>
              <a:pPr rtl="0"/>
              <a:t>‹nº›</a:t>
            </a:fld>
            <a:endParaRPr lang="pt-BR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 rtlCol="0"/>
          <a:lstStyle>
            <a:lvl1pPr marL="0" indent="0">
              <a:buNone/>
              <a:defRPr lang="pt-BR" sz="1600"/>
            </a:lvl1pPr>
            <a:lvl2pPr marL="457200" indent="0">
              <a:buNone/>
              <a:defRPr lang="pt-BR" sz="1400"/>
            </a:lvl2pPr>
            <a:lvl3pPr marL="914400" indent="0">
              <a:buNone/>
              <a:defRPr lang="pt-BR" sz="1200"/>
            </a:lvl3pPr>
            <a:lvl4pPr marL="1371600" indent="0">
              <a:buNone/>
              <a:defRPr lang="pt-BR" sz="1000"/>
            </a:lvl4pPr>
            <a:lvl5pPr marL="1828800" indent="0">
              <a:buNone/>
              <a:defRPr lang="pt-BR" sz="1000"/>
            </a:lvl5pPr>
            <a:lvl6pPr marL="2286000" indent="0">
              <a:buNone/>
              <a:defRPr lang="pt-BR" sz="1000"/>
            </a:lvl6pPr>
            <a:lvl7pPr marL="2743200" indent="0">
              <a:buNone/>
              <a:defRPr lang="pt-BR" sz="1000"/>
            </a:lvl7pPr>
            <a:lvl8pPr marL="3200400" indent="0">
              <a:buNone/>
              <a:defRPr lang="pt-BR" sz="1000"/>
            </a:lvl8pPr>
            <a:lvl9pPr marL="3657600" indent="0">
              <a:buNone/>
              <a:defRPr lang="pt-BR" sz="1000"/>
            </a:lvl9pPr>
          </a:lstStyle>
          <a:p>
            <a:pPr lvl="0" rtl="0"/>
            <a:r>
              <a:rPr lang="pt-BR"/>
              <a:t>Clique para adicionar o texto</a:t>
            </a:r>
          </a:p>
        </p:txBody>
      </p:sp>
      <p:sp>
        <p:nvSpPr>
          <p:cNvPr id="3" name="Espaço Reservado para Imagem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lang="pt-BR" sz="2800"/>
            </a:lvl1pPr>
            <a:lvl2pPr marL="457200" indent="0">
              <a:buNone/>
              <a:defRPr lang="pt-BR" sz="2800"/>
            </a:lvl2pPr>
            <a:lvl3pPr marL="914400" indent="0">
              <a:buNone/>
              <a:defRPr lang="pt-BR" sz="2400"/>
            </a:lvl3pPr>
            <a:lvl4pPr marL="1371600" indent="0">
              <a:buNone/>
              <a:defRPr lang="pt-BR" sz="2000"/>
            </a:lvl4pPr>
            <a:lvl5pPr marL="1828800" indent="0">
              <a:buNone/>
              <a:defRPr lang="pt-BR" sz="2000"/>
            </a:lvl5pPr>
            <a:lvl6pPr marL="2286000" indent="0">
              <a:buNone/>
              <a:defRPr lang="pt-BR" sz="2000"/>
            </a:lvl6pPr>
            <a:lvl7pPr marL="2743200" indent="0">
              <a:buNone/>
              <a:defRPr lang="pt-BR" sz="2000"/>
            </a:lvl7pPr>
            <a:lvl8pPr marL="3200400" indent="0">
              <a:buNone/>
              <a:defRPr lang="pt-BR" sz="2000"/>
            </a:lvl8pPr>
            <a:lvl9pPr marL="3657600" indent="0">
              <a:buNone/>
              <a:defRPr lang="pt-BR" sz="2000"/>
            </a:lvl9pPr>
          </a:lstStyle>
          <a:p>
            <a:pPr rtl="0"/>
            <a:r>
              <a:rPr lang="pt-BR"/>
              <a:t>Clique para adicionar uma imagem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o Número do Slide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lang="pt-BR"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rtl="0"/>
            <a:fld id="{48F63A3B-78C7-47BE-AE5E-E10140E04643}" type="slidenum">
              <a:rPr lang="pt-BR" smtClean="0"/>
              <a:pPr rtl="0"/>
              <a:t>‹nº›</a:t>
            </a:fld>
            <a:endParaRPr lang="pt-BR" dirty="0"/>
          </a:p>
        </p:txBody>
      </p:sp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defPPr>
              <a:defRPr lang="pt-BR"/>
            </a:defPPr>
          </a:lstStyle>
          <a:p>
            <a:pPr rtl="0"/>
            <a:r>
              <a:rPr lang="pt-BR"/>
              <a:t>Clique para editar o estilo de título Mestre</a:t>
            </a:r>
            <a:endParaRPr lang="pt-BR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t-BR"/>
            </a:def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lang="pt-BR"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pt-BR"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pt-BR"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pt-BR"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pt-BR"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pt-BR"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22931" y="509036"/>
            <a:ext cx="5746140" cy="3831221"/>
          </a:xfrm>
        </p:spPr>
        <p:txBody>
          <a:bodyPr rtlCol="0" anchor="ctr"/>
          <a:lstStyle>
            <a:defPPr>
              <a:defRPr lang="pt-BR"/>
            </a:defPPr>
          </a:lstStyle>
          <a:p>
            <a:r>
              <a:rPr lang="pt-PT" dirty="0"/>
              <a:t>Sistema de Gestão do Centro de Saúde Público</a:t>
            </a:r>
            <a:endParaRPr lang="pt-LU" dirty="0"/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768CE780-FCAE-CC0E-62D0-80A2EE80F922}"/>
              </a:ext>
            </a:extLst>
          </p:cNvPr>
          <p:cNvSpPr txBox="1">
            <a:spLocks/>
          </p:cNvSpPr>
          <p:nvPr/>
        </p:nvSpPr>
        <p:spPr>
          <a:xfrm>
            <a:off x="3083100" y="4132162"/>
            <a:ext cx="5746140" cy="3831221"/>
          </a:xfrm>
          <a:prstGeom prst="rect">
            <a:avLst/>
          </a:prstGeom>
        </p:spPr>
        <p:txBody>
          <a:bodyPr vert="horz" lIns="91440" tIns="0" rIns="91440" bIns="0" rtlCol="0" anchor="ctr" anchorCtr="0">
            <a:noAutofit/>
          </a:bodyPr>
          <a:lstStyle>
            <a:defPPr>
              <a:defRPr lang="pt-BR"/>
            </a:defPPr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pt-BR" sz="3600" b="1" kern="1200" cap="all" baseline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600" dirty="0">
                <a:solidFill>
                  <a:schemeClr val="bg1"/>
                </a:solidFill>
              </a:rPr>
              <a:t>grupo: 25</a:t>
            </a:r>
            <a:endParaRPr lang="pt-LU" sz="1600" dirty="0">
              <a:solidFill>
                <a:schemeClr val="bg1"/>
              </a:solidFill>
            </a:endParaRP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ED1D96B8-61F0-F29D-AA30-3752E172F290}"/>
              </a:ext>
            </a:extLst>
          </p:cNvPr>
          <p:cNvSpPr txBox="1">
            <a:spLocks/>
          </p:cNvSpPr>
          <p:nvPr/>
        </p:nvSpPr>
        <p:spPr>
          <a:xfrm>
            <a:off x="3235500" y="4548352"/>
            <a:ext cx="5746140" cy="3831221"/>
          </a:xfrm>
          <a:prstGeom prst="rect">
            <a:avLst/>
          </a:prstGeom>
        </p:spPr>
        <p:txBody>
          <a:bodyPr vert="horz" lIns="91440" tIns="0" rIns="91440" bIns="0" rtlCol="0" anchor="ctr" anchorCtr="0">
            <a:noAutofit/>
          </a:bodyPr>
          <a:lstStyle>
            <a:defPPr>
              <a:defRPr lang="pt-BR"/>
            </a:defPPr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pt-BR" sz="3600" b="1" kern="1200" cap="all" baseline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600" dirty="0">
                <a:solidFill>
                  <a:schemeClr val="bg1"/>
                </a:solidFill>
              </a:rPr>
              <a:t>Por: Emanuel Mazunda e Nsikivuila victor</a:t>
            </a:r>
            <a:endParaRPr lang="pt-LU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021072-4A77-DB4D-DF41-58EADB7DA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082" y="-479296"/>
            <a:ext cx="6583680" cy="1531357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introdução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4D22962-3C7F-E480-5C35-7F4860A09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2940" y="1230968"/>
            <a:ext cx="5782087" cy="3207344"/>
          </a:xfrm>
        </p:spPr>
        <p:txBody>
          <a:bodyPr rtlCol="0">
            <a:normAutofit fontScale="92500" lnSpcReduction="20000"/>
          </a:bodyPr>
          <a:lstStyle>
            <a:defPPr>
              <a:defRPr lang="pt-BR"/>
            </a:defPPr>
          </a:lstStyle>
          <a:p>
            <a:r>
              <a:rPr lang="pt-PT" dirty="0"/>
              <a:t>Este projecto surge da necessidade de modernizar os processos de gestão de um centro de saude público típico, digitalizando fluxos de trabalho que actualmente são executados em papel, reduzindo erros e melhorando a qualidade do serviço prestado aos utentes.</a:t>
            </a:r>
            <a:endParaRPr lang="pt-LU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18D5CFA2-4E67-F157-5FFD-A246307D41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48F63A3B-78C7-47BE-AE5E-E10140E04643}" type="slidenum">
              <a:rPr lang="pt-BR" smtClean="0"/>
              <a:pPr/>
              <a:t>2</a:t>
            </a:fld>
            <a:endParaRPr lang="pt-BR" dirty="0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9A2A7FE2-CD6A-4EE7-40F9-310BCFDE4199}"/>
              </a:ext>
            </a:extLst>
          </p:cNvPr>
          <p:cNvSpPr/>
          <p:nvPr/>
        </p:nvSpPr>
        <p:spPr>
          <a:xfrm>
            <a:off x="6287835" y="0"/>
            <a:ext cx="5894895" cy="6858000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LU"/>
          </a:p>
        </p:txBody>
      </p:sp>
      <p:sp>
        <p:nvSpPr>
          <p:cNvPr id="6" name="Espaço Reservado para Conteúdo 2">
            <a:extLst>
              <a:ext uri="{FF2B5EF4-FFF2-40B4-BE49-F238E27FC236}">
                <a16:creationId xmlns:a16="http://schemas.microsoft.com/office/drawing/2014/main" id="{0EDED197-6A1F-E309-E0A5-2A856A46C442}"/>
              </a:ext>
            </a:extLst>
          </p:cNvPr>
          <p:cNvSpPr txBox="1">
            <a:spLocks/>
          </p:cNvSpPr>
          <p:nvPr/>
        </p:nvSpPr>
        <p:spPr>
          <a:xfrm>
            <a:off x="6287835" y="258106"/>
            <a:ext cx="5782087" cy="3207344"/>
          </a:xfrm>
          <a:prstGeom prst="rect">
            <a:avLst/>
          </a:prstGeom>
        </p:spPr>
        <p:txBody>
          <a:bodyPr vert="horz" lIns="91440" tIns="0" rIns="91440" bIns="0" rtlCol="0">
            <a:normAutofit/>
          </a:bodyPr>
          <a:lstStyle>
            <a:defPPr>
              <a:defRPr lang="pt-BR"/>
            </a:defPPr>
            <a:lvl1pPr marL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lang="pt-BR"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347472" indent="-347472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pt-BR"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685800" indent="-347472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pt-BR"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lang="pt-BR"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lang="pt-BR"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B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B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B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B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sz="1600" b="1" dirty="0">
                <a:solidFill>
                  <a:schemeClr val="bg1"/>
                </a:solidFill>
                <a:latin typeface="Perpetua" panose="02020502060401020303" pitchFamily="18" charset="0"/>
              </a:rPr>
              <a:t>Objetivo Geral:</a:t>
            </a:r>
            <a:endParaRPr lang="pt-LU" sz="1600" dirty="0">
              <a:solidFill>
                <a:schemeClr val="bg1"/>
              </a:solidFill>
              <a:latin typeface="Perpetua" panose="02020502060401020303" pitchFamily="18" charset="0"/>
            </a:endParaRPr>
          </a:p>
          <a:p>
            <a:r>
              <a:rPr lang="pt-PT" sz="1600" dirty="0">
                <a:solidFill>
                  <a:schemeClr val="bg1"/>
                </a:solidFill>
                <a:latin typeface="Perpetua" panose="02020502060401020303" pitchFamily="18" charset="0"/>
              </a:rPr>
              <a:t>Desenvolver um sistema de informação para a gestão integrada de um centro de saude público, aplicando os conceitos de POO e arquitetura em camadas.</a:t>
            </a:r>
            <a:endParaRPr lang="pt-LU" sz="1600" dirty="0">
              <a:solidFill>
                <a:schemeClr val="bg1"/>
              </a:solidFill>
              <a:latin typeface="Perpetua" panose="02020502060401020303" pitchFamily="18" charset="0"/>
            </a:endParaRPr>
          </a:p>
        </p:txBody>
      </p:sp>
      <p:sp>
        <p:nvSpPr>
          <p:cNvPr id="8" name="Espaço Reservado para Conteúdo 2">
            <a:extLst>
              <a:ext uri="{FF2B5EF4-FFF2-40B4-BE49-F238E27FC236}">
                <a16:creationId xmlns:a16="http://schemas.microsoft.com/office/drawing/2014/main" id="{85C60D27-50DD-3D4B-F0D8-E2E4131DC4EB}"/>
              </a:ext>
            </a:extLst>
          </p:cNvPr>
          <p:cNvSpPr txBox="1">
            <a:spLocks/>
          </p:cNvSpPr>
          <p:nvPr/>
        </p:nvSpPr>
        <p:spPr>
          <a:xfrm>
            <a:off x="6409913" y="2603499"/>
            <a:ext cx="5741867" cy="3016324"/>
          </a:xfrm>
          <a:prstGeom prst="rect">
            <a:avLst/>
          </a:prstGeom>
        </p:spPr>
        <p:txBody>
          <a:bodyPr vert="horz" lIns="91440" tIns="0" rIns="91440" bIns="0" rtlCol="0">
            <a:normAutofit fontScale="25000" lnSpcReduction="20000"/>
          </a:bodyPr>
          <a:lstStyle>
            <a:defPPr>
              <a:defRPr lang="pt-BR"/>
            </a:defPPr>
            <a:lvl1pPr marL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lang="pt-BR"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347472" indent="-347472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pt-BR"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685800" indent="-347472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pt-BR"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lang="pt-BR"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lang="pt-BR"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B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B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B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B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sz="6400" b="1" dirty="0">
                <a:solidFill>
                  <a:schemeClr val="bg1"/>
                </a:solidFill>
              </a:rPr>
              <a:t>Objetivos Específicos:</a:t>
            </a:r>
            <a:endParaRPr lang="pt-LU" sz="6400" dirty="0">
              <a:solidFill>
                <a:schemeClr val="bg1"/>
              </a:solidFill>
            </a:endParaRPr>
          </a:p>
          <a:p>
            <a:pPr lvl="0"/>
            <a:r>
              <a:rPr lang="pt-PT" sz="6400" dirty="0">
                <a:solidFill>
                  <a:schemeClr val="bg1"/>
                </a:solidFill>
              </a:rPr>
              <a:t>Implementar CRUD completo para utentes, médicos e consultas</a:t>
            </a:r>
            <a:endParaRPr lang="pt-LU" sz="6400" dirty="0">
              <a:solidFill>
                <a:schemeClr val="bg1"/>
              </a:solidFill>
            </a:endParaRPr>
          </a:p>
          <a:p>
            <a:pPr lvl="0"/>
            <a:r>
              <a:rPr lang="pt-PT" sz="6400" dirty="0">
                <a:solidFill>
                  <a:schemeClr val="bg1"/>
                </a:solidFill>
              </a:rPr>
              <a:t>Desenvolver sistema de triagem com classificação por nível de urgência</a:t>
            </a:r>
            <a:endParaRPr lang="pt-LU" sz="6400" dirty="0">
              <a:solidFill>
                <a:schemeClr val="bg1"/>
              </a:solidFill>
            </a:endParaRPr>
          </a:p>
          <a:p>
            <a:pPr lvl="0"/>
            <a:r>
              <a:rPr lang="pt-PT" sz="6400" dirty="0">
                <a:solidFill>
                  <a:schemeClr val="bg1"/>
                </a:solidFill>
              </a:rPr>
              <a:t>Criar mecanismo de emissão de prescrições e referências hospitalares</a:t>
            </a:r>
            <a:endParaRPr lang="pt-LU" sz="6400" dirty="0">
              <a:solidFill>
                <a:schemeClr val="bg1"/>
              </a:solidFill>
            </a:endParaRPr>
          </a:p>
          <a:p>
            <a:pPr lvl="0"/>
            <a:r>
              <a:rPr lang="pt-PT" sz="6400" dirty="0">
                <a:solidFill>
                  <a:schemeClr val="bg1"/>
                </a:solidFill>
              </a:rPr>
              <a:t>Gerar histórico clinico completo por utente</a:t>
            </a:r>
            <a:endParaRPr lang="pt-LU" sz="6400" dirty="0">
              <a:solidFill>
                <a:schemeClr val="bg1"/>
              </a:solidFill>
            </a:endParaRPr>
          </a:p>
          <a:p>
            <a:pPr lvl="0"/>
            <a:r>
              <a:rPr lang="pt-PT" sz="6400" dirty="0">
                <a:solidFill>
                  <a:schemeClr val="bg1"/>
                </a:solidFill>
              </a:rPr>
              <a:t>Aplicar interfaces, herança e polimorfismo conforme requisitos do projecto</a:t>
            </a:r>
            <a:endParaRPr lang="pt-LU" sz="6400" dirty="0">
              <a:solidFill>
                <a:schemeClr val="bg1"/>
              </a:solidFill>
            </a:endParaRPr>
          </a:p>
          <a:p>
            <a:pPr lvl="0"/>
            <a:r>
              <a:rPr lang="pt-PT" sz="6400" dirty="0">
                <a:solidFill>
                  <a:schemeClr val="bg1"/>
                </a:solidFill>
              </a:rPr>
              <a:t>Persistir dados em base de dados MySQL via arquitetura em camadasése de dados 'centro_saude' ÉEPuaku Ventura</a:t>
            </a:r>
            <a:endParaRPr lang="pt-LU" sz="6400" dirty="0">
              <a:solidFill>
                <a:schemeClr val="bg1"/>
              </a:solidFill>
            </a:endParaRPr>
          </a:p>
          <a:p>
            <a:r>
              <a:rPr lang="pt-PT" sz="6400" dirty="0">
                <a:solidFill>
                  <a:schemeClr val="bg1"/>
                </a:solidFill>
              </a:rPr>
              <a:t> </a:t>
            </a:r>
            <a:endParaRPr lang="pt-L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3219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4EDA75-0988-2AC2-87F8-8DEC83A7B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3658" y="1059447"/>
            <a:ext cx="5723586" cy="4739104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Análise dos</a:t>
            </a:r>
            <a:br>
              <a:rPr lang="pt-BR" dirty="0"/>
            </a:br>
            <a:r>
              <a:rPr lang="pt-BR" dirty="0"/>
              <a:t>requisitos</a:t>
            </a:r>
          </a:p>
        </p:txBody>
      </p:sp>
      <p:graphicFrame>
        <p:nvGraphicFramePr>
          <p:cNvPr id="9" name="Tabela 8">
            <a:extLst>
              <a:ext uri="{FF2B5EF4-FFF2-40B4-BE49-F238E27FC236}">
                <a16:creationId xmlns:a16="http://schemas.microsoft.com/office/drawing/2014/main" id="{4AAC5AB9-1A1E-9691-9132-D61C2605E8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9173870"/>
              </p:ext>
            </p:extLst>
          </p:nvPr>
        </p:nvGraphicFramePr>
        <p:xfrm>
          <a:off x="765973" y="1547685"/>
          <a:ext cx="5731510" cy="3762629"/>
        </p:xfrm>
        <a:graphic>
          <a:graphicData uri="http://schemas.openxmlformats.org/drawingml/2006/table">
            <a:tbl>
              <a:tblPr firstRow="1" firstCol="1" bandRow="1">
                <a:tableStyleId>{3B4B98B0-60AC-42C2-AFA5-B58CD77FA1E5}</a:tableStyleId>
              </a:tblPr>
              <a:tblGrid>
                <a:gridCol w="571500">
                  <a:extLst>
                    <a:ext uri="{9D8B030D-6E8A-4147-A177-3AD203B41FA5}">
                      <a16:colId xmlns:a16="http://schemas.microsoft.com/office/drawing/2014/main" val="3338958120"/>
                    </a:ext>
                  </a:extLst>
                </a:gridCol>
                <a:gridCol w="1587500">
                  <a:extLst>
                    <a:ext uri="{9D8B030D-6E8A-4147-A177-3AD203B41FA5}">
                      <a16:colId xmlns:a16="http://schemas.microsoft.com/office/drawing/2014/main" val="3920790863"/>
                    </a:ext>
                  </a:extLst>
                </a:gridCol>
                <a:gridCol w="3572510">
                  <a:extLst>
                    <a:ext uri="{9D8B030D-6E8A-4147-A177-3AD203B41FA5}">
                      <a16:colId xmlns:a16="http://schemas.microsoft.com/office/drawing/2014/main" val="420443221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pt-PT" sz="1200">
                          <a:effectLst/>
                        </a:rPr>
                        <a:t>ID</a:t>
                      </a:r>
                      <a:endParaRPr lang="pt-LU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pt-PT" sz="1200">
                          <a:effectLst/>
                        </a:rPr>
                        <a:t>Modulo</a:t>
                      </a:r>
                      <a:endParaRPr lang="pt-LU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pt-PT" sz="1200">
                          <a:effectLst/>
                        </a:rPr>
                        <a:t>Descrição</a:t>
                      </a:r>
                      <a:endParaRPr lang="pt-LU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13651939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pt-PT" sz="1200">
                          <a:effectLst/>
                        </a:rPr>
                        <a:t>RF01</a:t>
                      </a:r>
                      <a:endParaRPr lang="pt-LU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38100" marB="381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pt-PT" sz="1200">
                          <a:effectLst/>
                        </a:rPr>
                        <a:t>Utentes</a:t>
                      </a:r>
                      <a:endParaRPr lang="pt-LU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38100" marB="381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pt-PT" sz="1200">
                          <a:effectLst/>
                        </a:rPr>
                        <a:t>Cadastrar, consultar, editar e eliminar utentes</a:t>
                      </a:r>
                      <a:endParaRPr lang="pt-LU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38100" marB="38100"/>
                </a:tc>
                <a:extLst>
                  <a:ext uri="{0D108BD9-81ED-4DB2-BD59-A6C34878D82A}">
                    <a16:rowId xmlns:a16="http://schemas.microsoft.com/office/drawing/2014/main" val="9551968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pt-PT" sz="1200">
                          <a:effectLst/>
                        </a:rPr>
                        <a:t>RF02</a:t>
                      </a:r>
                      <a:endParaRPr lang="pt-LU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38100" marB="381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pt-PT" sz="1200">
                          <a:effectLst/>
                        </a:rPr>
                        <a:t>Utentes</a:t>
                      </a:r>
                      <a:endParaRPr lang="pt-LU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38100" marB="381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pt-PT" sz="1200">
                          <a:effectLst/>
                        </a:rPr>
                        <a:t>Pesquisar utentes por nome, numero ou telefone</a:t>
                      </a:r>
                      <a:endParaRPr lang="pt-LU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38100" marB="38100"/>
                </a:tc>
                <a:extLst>
                  <a:ext uri="{0D108BD9-81ED-4DB2-BD59-A6C34878D82A}">
                    <a16:rowId xmlns:a16="http://schemas.microsoft.com/office/drawing/2014/main" val="86216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pt-PT" sz="1200">
                          <a:effectLst/>
                        </a:rPr>
                        <a:t>RF03</a:t>
                      </a:r>
                      <a:endParaRPr lang="pt-LU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38100" marB="381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pt-PT" sz="1200">
                          <a:effectLst/>
                        </a:rPr>
                        <a:t>Médicos</a:t>
                      </a:r>
                      <a:endParaRPr lang="pt-LU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38100" marB="381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pt-PT" sz="1200">
                          <a:effectLst/>
                        </a:rPr>
                        <a:t>Gerir médicos e respectivas especialidades</a:t>
                      </a:r>
                      <a:endParaRPr lang="pt-LU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38100" marB="38100"/>
                </a:tc>
                <a:extLst>
                  <a:ext uri="{0D108BD9-81ED-4DB2-BD59-A6C34878D82A}">
                    <a16:rowId xmlns:a16="http://schemas.microsoft.com/office/drawing/2014/main" val="35918733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pt-PT" sz="1200">
                          <a:effectLst/>
                        </a:rPr>
                        <a:t>RF04</a:t>
                      </a:r>
                      <a:endParaRPr lang="pt-LU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38100" marB="381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pt-PT" sz="1200">
                          <a:effectLst/>
                        </a:rPr>
                        <a:t>Triagem</a:t>
                      </a:r>
                      <a:endParaRPr lang="pt-LU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38100" marB="381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pt-PT" sz="1200">
                          <a:effectLst/>
                        </a:rPr>
                        <a:t>Registar triagem com nível de urgência (Manchester)</a:t>
                      </a:r>
                      <a:endParaRPr lang="pt-LU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38100" marB="38100"/>
                </a:tc>
                <a:extLst>
                  <a:ext uri="{0D108BD9-81ED-4DB2-BD59-A6C34878D82A}">
                    <a16:rowId xmlns:a16="http://schemas.microsoft.com/office/drawing/2014/main" val="17412227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pt-PT" sz="1200">
                          <a:effectLst/>
                        </a:rPr>
                        <a:t>RF05</a:t>
                      </a:r>
                      <a:endParaRPr lang="pt-LU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38100" marB="381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pt-PT" sz="1200">
                          <a:effectLst/>
                        </a:rPr>
                        <a:t>Triagem</a:t>
                      </a:r>
                      <a:endParaRPr lang="pt-LU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38100" marB="381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pt-PT" sz="1200">
                          <a:effectLst/>
                        </a:rPr>
                        <a:t>Exibir fila de triagem do dia ordenada por urgência</a:t>
                      </a:r>
                      <a:endParaRPr lang="pt-LU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38100" marB="38100"/>
                </a:tc>
                <a:extLst>
                  <a:ext uri="{0D108BD9-81ED-4DB2-BD59-A6C34878D82A}">
                    <a16:rowId xmlns:a16="http://schemas.microsoft.com/office/drawing/2014/main" val="21557397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pt-PT" sz="1200">
                          <a:effectLst/>
                        </a:rPr>
                        <a:t>RF06</a:t>
                      </a:r>
                      <a:endParaRPr lang="pt-LU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38100" marB="381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pt-PT" sz="1200">
                          <a:effectLst/>
                        </a:rPr>
                        <a:t>Consultas</a:t>
                      </a:r>
                      <a:endParaRPr lang="pt-LU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38100" marB="381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pt-PT" sz="1200">
                          <a:effectLst/>
                        </a:rPr>
                        <a:t>Agendar consultas com verificação de conflitos (+/-30min)</a:t>
                      </a:r>
                      <a:endParaRPr lang="pt-LU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38100" marB="38100"/>
                </a:tc>
                <a:extLst>
                  <a:ext uri="{0D108BD9-81ED-4DB2-BD59-A6C34878D82A}">
                    <a16:rowId xmlns:a16="http://schemas.microsoft.com/office/drawing/2014/main" val="4557009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pt-PT" sz="1200">
                          <a:effectLst/>
                        </a:rPr>
                        <a:t>RF07</a:t>
                      </a:r>
                      <a:endParaRPr lang="pt-LU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38100" marB="381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pt-PT" sz="1200">
                          <a:effectLst/>
                        </a:rPr>
                        <a:t>Consultas</a:t>
                      </a:r>
                      <a:endParaRPr lang="pt-LU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38100" marB="381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pt-PT" sz="1200">
                          <a:effectLst/>
                        </a:rPr>
                        <a:t>Registar diagnóstico durante o atendimento</a:t>
                      </a:r>
                      <a:endParaRPr lang="pt-LU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38100" marB="38100"/>
                </a:tc>
                <a:extLst>
                  <a:ext uri="{0D108BD9-81ED-4DB2-BD59-A6C34878D82A}">
                    <a16:rowId xmlns:a16="http://schemas.microsoft.com/office/drawing/2014/main" val="37859586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pt-PT" sz="1200">
                          <a:effectLst/>
                        </a:rPr>
                        <a:t>RF08</a:t>
                      </a:r>
                      <a:endParaRPr lang="pt-LU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38100" marB="381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pt-PT" sz="1200">
                          <a:effectLst/>
                        </a:rPr>
                        <a:t>Prescrições</a:t>
                      </a:r>
                      <a:endParaRPr lang="pt-LU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38100" marB="381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pt-PT" sz="1200">
                          <a:effectLst/>
                        </a:rPr>
                        <a:t>Emitir prescrições com medicamento, dosagem e posologia</a:t>
                      </a:r>
                      <a:endParaRPr lang="pt-LU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38100" marB="38100"/>
                </a:tc>
                <a:extLst>
                  <a:ext uri="{0D108BD9-81ED-4DB2-BD59-A6C34878D82A}">
                    <a16:rowId xmlns:a16="http://schemas.microsoft.com/office/drawing/2014/main" val="20498881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pt-PT" sz="1200">
                          <a:effectLst/>
                        </a:rPr>
                        <a:t>RF09</a:t>
                      </a:r>
                      <a:endParaRPr lang="pt-LU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38100" marB="381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pt-PT" sz="1200">
                          <a:effectLst/>
                        </a:rPr>
                        <a:t>Referencias</a:t>
                      </a:r>
                      <a:endParaRPr lang="pt-LU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38100" marB="381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pt-PT" sz="1200">
                          <a:effectLst/>
                        </a:rPr>
                        <a:t>Emitir referências hospitalares com tipo e especialidade</a:t>
                      </a:r>
                      <a:endParaRPr lang="pt-LU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38100" marB="38100"/>
                </a:tc>
                <a:extLst>
                  <a:ext uri="{0D108BD9-81ED-4DB2-BD59-A6C34878D82A}">
                    <a16:rowId xmlns:a16="http://schemas.microsoft.com/office/drawing/2014/main" val="30437674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pt-PT" sz="1200">
                          <a:effectLst/>
                        </a:rPr>
                        <a:t>RF10</a:t>
                      </a:r>
                      <a:endParaRPr lang="pt-LU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38100" marB="381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pt-PT" sz="1200">
                          <a:effectLst/>
                        </a:rPr>
                        <a:t>Histórico</a:t>
                      </a:r>
                      <a:endParaRPr lang="pt-LU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38100" marB="381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pt-PT" sz="1200">
                          <a:effectLst/>
                        </a:rPr>
                        <a:t>Gerar histórico clinico completo por utente</a:t>
                      </a:r>
                      <a:endParaRPr lang="pt-LU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38100" marB="38100"/>
                </a:tc>
                <a:extLst>
                  <a:ext uri="{0D108BD9-81ED-4DB2-BD59-A6C34878D82A}">
                    <a16:rowId xmlns:a16="http://schemas.microsoft.com/office/drawing/2014/main" val="25990555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pt-PT" sz="1200">
                          <a:effectLst/>
                        </a:rPr>
                        <a:t>RF11</a:t>
                      </a:r>
                      <a:endParaRPr lang="pt-LU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38100" marB="381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pt-PT" sz="1200">
                          <a:effectLst/>
                        </a:rPr>
                        <a:t>Dashboard</a:t>
                      </a:r>
                      <a:endParaRPr lang="pt-LU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38100" marB="381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pt-PT" sz="1200" dirty="0">
                          <a:effectLst/>
                        </a:rPr>
                        <a:t>Exibir estatísticas em tempo real</a:t>
                      </a:r>
                      <a:endParaRPr lang="pt-LU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38100" marB="38100"/>
                </a:tc>
                <a:extLst>
                  <a:ext uri="{0D108BD9-81ED-4DB2-BD59-A6C34878D82A}">
                    <a16:rowId xmlns:a16="http://schemas.microsoft.com/office/drawing/2014/main" val="23542103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064919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3B219B-7E3A-7E84-6386-37313F0CF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5"/>
            <a:ext cx="5259554" cy="2495028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Diagrama </a:t>
            </a:r>
            <a:r>
              <a:rPr lang="pt-BR" dirty="0" err="1"/>
              <a:t>dse</a:t>
            </a:r>
            <a:r>
              <a:rPr lang="pt-BR" dirty="0"/>
              <a:t> classe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23A74F4E-9064-E216-FBD9-9194DF0056F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79" t="14354" r="9812"/>
          <a:stretch>
            <a:fillRect/>
          </a:stretch>
        </p:blipFill>
        <p:spPr bwMode="auto">
          <a:xfrm>
            <a:off x="5235333" y="1352345"/>
            <a:ext cx="6802696" cy="439991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9529238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5E8954-9BCB-7FD9-A210-38DC54382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565" y="1057274"/>
            <a:ext cx="7965461" cy="994164"/>
          </a:xfrm>
        </p:spPr>
        <p:txBody>
          <a:bodyPr rtlCol="0"/>
          <a:lstStyle>
            <a:defPPr>
              <a:defRPr lang="pt-BR"/>
            </a:defPPr>
          </a:lstStyle>
          <a:p>
            <a:r>
              <a:rPr lang="pt-PT" dirty="0"/>
              <a:t>Arquitetura da aplicação </a:t>
            </a:r>
            <a:endParaRPr lang="pt-BR" dirty="0"/>
          </a:p>
        </p:txBody>
      </p:sp>
      <p:sp>
        <p:nvSpPr>
          <p:cNvPr id="23" name="Espaço Reservado para o Número do Slide 22">
            <a:extLst>
              <a:ext uri="{FF2B5EF4-FFF2-40B4-BE49-F238E27FC236}">
                <a16:creationId xmlns:a16="http://schemas.microsoft.com/office/drawing/2014/main" id="{94FF72B7-0438-3641-5939-75128934B0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48F63A3B-78C7-47BE-AE5E-E10140E04643}" type="slidenum">
              <a:rPr lang="pt-BR" smtClean="0"/>
              <a:pPr/>
              <a:t>5</a:t>
            </a:fld>
            <a:endParaRPr lang="pt-BR" dirty="0"/>
          </a:p>
        </p:txBody>
      </p:sp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1FA4BF51-61D5-D102-380F-B8EEBD21A6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3222731"/>
              </p:ext>
            </p:extLst>
          </p:nvPr>
        </p:nvGraphicFramePr>
        <p:xfrm>
          <a:off x="3460566" y="2450969"/>
          <a:ext cx="7210577" cy="2997723"/>
        </p:xfrm>
        <a:graphic>
          <a:graphicData uri="http://schemas.openxmlformats.org/drawingml/2006/table">
            <a:tbl>
              <a:tblPr firstRow="1" firstCol="1" bandRow="1">
                <a:tableStyleId>{3B4B98B0-60AC-42C2-AFA5-B58CD77FA1E5}</a:tableStyleId>
              </a:tblPr>
              <a:tblGrid>
                <a:gridCol w="1757509">
                  <a:extLst>
                    <a:ext uri="{9D8B030D-6E8A-4147-A177-3AD203B41FA5}">
                      <a16:colId xmlns:a16="http://schemas.microsoft.com/office/drawing/2014/main" val="1376380176"/>
                    </a:ext>
                  </a:extLst>
                </a:gridCol>
                <a:gridCol w="2077055">
                  <a:extLst>
                    <a:ext uri="{9D8B030D-6E8A-4147-A177-3AD203B41FA5}">
                      <a16:colId xmlns:a16="http://schemas.microsoft.com/office/drawing/2014/main" val="733801973"/>
                    </a:ext>
                  </a:extLst>
                </a:gridCol>
                <a:gridCol w="3376013">
                  <a:extLst>
                    <a:ext uri="{9D8B030D-6E8A-4147-A177-3AD203B41FA5}">
                      <a16:colId xmlns:a16="http://schemas.microsoft.com/office/drawing/2014/main" val="1752295223"/>
                    </a:ext>
                  </a:extLst>
                </a:gridCol>
              </a:tblGrid>
              <a:tr h="43329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pt-PT" sz="1200">
                          <a:effectLst/>
                        </a:rPr>
                        <a:t>Camada</a:t>
                      </a:r>
                      <a:endParaRPr lang="pt-LU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pt-PT" sz="1200">
                          <a:effectLst/>
                        </a:rPr>
                        <a:t>Pasta / Namespace</a:t>
                      </a:r>
                      <a:endParaRPr lang="pt-LU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pt-PT" sz="1200">
                          <a:effectLst/>
                        </a:rPr>
                        <a:t>Responsabilidade</a:t>
                      </a:r>
                      <a:endParaRPr lang="pt-LU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2451560896"/>
                  </a:ext>
                </a:extLst>
              </a:tr>
              <a:tr h="68960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pt-PT" sz="1200">
                          <a:effectLst/>
                        </a:rPr>
                        <a:t>Interfaces</a:t>
                      </a:r>
                      <a:endParaRPr lang="pt-LU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38100" marB="381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pt-PT" sz="1200">
                          <a:effectLst/>
                        </a:rPr>
                        <a:t>Interfaces/</a:t>
                      </a:r>
                      <a:endParaRPr lang="pt-LU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38100" marB="381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pt-PT" sz="1200">
                          <a:effectLst/>
                        </a:rPr>
                        <a:t>Contratos (IRepositorio&lt;T&gt;, IPesquisavel&lt;T&gt;, IAlertavel)</a:t>
                      </a:r>
                      <a:endParaRPr lang="pt-LU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38100" marB="38100"/>
                </a:tc>
                <a:extLst>
                  <a:ext uri="{0D108BD9-81ED-4DB2-BD59-A6C34878D82A}">
                    <a16:rowId xmlns:a16="http://schemas.microsoft.com/office/drawing/2014/main" val="3876447597"/>
                  </a:ext>
                </a:extLst>
              </a:tr>
              <a:tr h="68960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pt-PT" sz="1200">
                          <a:effectLst/>
                        </a:rPr>
                        <a:t>Modelo</a:t>
                      </a:r>
                      <a:endParaRPr lang="pt-LU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38100" marB="381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pt-PT" sz="1200">
                          <a:effectLst/>
                        </a:rPr>
                        <a:t>Models/</a:t>
                      </a:r>
                      <a:endParaRPr lang="pt-LU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38100" marB="381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pt-PT" sz="1200">
                          <a:effectLst/>
                        </a:rPr>
                        <a:t>Classes de domínio (Utente, Medico, Triagem, etc.)</a:t>
                      </a:r>
                      <a:endParaRPr lang="pt-LU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38100" marB="38100"/>
                </a:tc>
                <a:extLst>
                  <a:ext uri="{0D108BD9-81ED-4DB2-BD59-A6C34878D82A}">
                    <a16:rowId xmlns:a16="http://schemas.microsoft.com/office/drawing/2014/main" val="1267184171"/>
                  </a:ext>
                </a:extLst>
              </a:tr>
              <a:tr h="39507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pt-PT" sz="1200">
                          <a:effectLst/>
                        </a:rPr>
                        <a:t>Repositorios</a:t>
                      </a:r>
                      <a:endParaRPr lang="pt-LU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38100" marB="381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pt-PT" sz="1200">
                          <a:effectLst/>
                        </a:rPr>
                        <a:t>Repositories/</a:t>
                      </a:r>
                      <a:endParaRPr lang="pt-LU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38100" marB="381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pt-PT" sz="1200">
                          <a:effectLst/>
                        </a:rPr>
                        <a:t>DAL — acesso a base de dados MySQL</a:t>
                      </a:r>
                      <a:endParaRPr lang="pt-LU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38100" marB="38100"/>
                </a:tc>
                <a:extLst>
                  <a:ext uri="{0D108BD9-81ED-4DB2-BD59-A6C34878D82A}">
                    <a16:rowId xmlns:a16="http://schemas.microsoft.com/office/drawing/2014/main" val="59700944"/>
                  </a:ext>
                </a:extLst>
              </a:tr>
              <a:tr h="39507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pt-PT" sz="1200">
                          <a:effectLst/>
                        </a:rPr>
                        <a:t>Controlos</a:t>
                      </a:r>
                      <a:endParaRPr lang="pt-LU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38100" marB="381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pt-PT" sz="1200">
                          <a:effectLst/>
                        </a:rPr>
                        <a:t>Controllers/</a:t>
                      </a:r>
                      <a:endParaRPr lang="pt-LU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38100" marB="381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pt-PT" sz="1200">
                          <a:effectLst/>
                        </a:rPr>
                        <a:t>BLL — logica de negócio e validações</a:t>
                      </a:r>
                      <a:endParaRPr lang="pt-LU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38100" marB="38100"/>
                </a:tc>
                <a:extLst>
                  <a:ext uri="{0D108BD9-81ED-4DB2-BD59-A6C34878D82A}">
                    <a16:rowId xmlns:a16="http://schemas.microsoft.com/office/drawing/2014/main" val="565106410"/>
                  </a:ext>
                </a:extLst>
              </a:tr>
              <a:tr h="39507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pt-PT" sz="1200">
                          <a:effectLst/>
                        </a:rPr>
                        <a:t>Vistas</a:t>
                      </a:r>
                      <a:endParaRPr lang="pt-LU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38100" marB="381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pt-PT" sz="1200">
                          <a:effectLst/>
                        </a:rPr>
                        <a:t>Views/</a:t>
                      </a:r>
                      <a:endParaRPr lang="pt-LU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38100" marB="381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pt-PT" sz="1200" dirty="0">
                          <a:effectLst/>
                        </a:rPr>
                        <a:t>UI — formulários Windows Forms</a:t>
                      </a:r>
                      <a:endParaRPr lang="pt-LU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38100" marB="38100"/>
                </a:tc>
                <a:extLst>
                  <a:ext uri="{0D108BD9-81ED-4DB2-BD59-A6C34878D82A}">
                    <a16:rowId xmlns:a16="http://schemas.microsoft.com/office/drawing/2014/main" val="22297771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856810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3D55F2D4-C20E-BEBC-1CCF-4449B0456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756" y="1545996"/>
            <a:ext cx="5415212" cy="652426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Descrição das classes</a:t>
            </a:r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C82CE1B8-1C92-D6D2-444B-652DB90E86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48F63A3B-78C7-47BE-AE5E-E10140E04643}" type="slidenum">
              <a:rPr lang="pt-BR" smtClean="0"/>
              <a:pPr rtl="0"/>
              <a:t>6</a:t>
            </a:fld>
            <a:endParaRPr lang="pt-BR" dirty="0"/>
          </a:p>
        </p:txBody>
      </p:sp>
      <p:graphicFrame>
        <p:nvGraphicFramePr>
          <p:cNvPr id="11" name="Tabela 10">
            <a:extLst>
              <a:ext uri="{FF2B5EF4-FFF2-40B4-BE49-F238E27FC236}">
                <a16:creationId xmlns:a16="http://schemas.microsoft.com/office/drawing/2014/main" id="{AC0BCEC9-1518-875C-2FEC-13B660E916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9581294"/>
              </p:ext>
            </p:extLst>
          </p:nvPr>
        </p:nvGraphicFramePr>
        <p:xfrm>
          <a:off x="5062194" y="641022"/>
          <a:ext cx="6898800" cy="6216976"/>
        </p:xfrm>
        <a:graphic>
          <a:graphicData uri="http://schemas.openxmlformats.org/drawingml/2006/table">
            <a:tbl>
              <a:tblPr firstRow="1" firstCol="1" bandRow="1">
                <a:tableStyleId>{3B4B98B0-60AC-42C2-AFA5-B58CD77FA1E5}</a:tableStyleId>
              </a:tblPr>
              <a:tblGrid>
                <a:gridCol w="1680103">
                  <a:extLst>
                    <a:ext uri="{9D8B030D-6E8A-4147-A177-3AD203B41FA5}">
                      <a16:colId xmlns:a16="http://schemas.microsoft.com/office/drawing/2014/main" val="3925365746"/>
                    </a:ext>
                  </a:extLst>
                </a:gridCol>
                <a:gridCol w="1987614">
                  <a:extLst>
                    <a:ext uri="{9D8B030D-6E8A-4147-A177-3AD203B41FA5}">
                      <a16:colId xmlns:a16="http://schemas.microsoft.com/office/drawing/2014/main" val="670850910"/>
                    </a:ext>
                  </a:extLst>
                </a:gridCol>
                <a:gridCol w="3231083">
                  <a:extLst>
                    <a:ext uri="{9D8B030D-6E8A-4147-A177-3AD203B41FA5}">
                      <a16:colId xmlns:a16="http://schemas.microsoft.com/office/drawing/2014/main" val="1315128139"/>
                    </a:ext>
                  </a:extLst>
                </a:gridCol>
              </a:tblGrid>
              <a:tr h="23160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pt-PT" sz="700">
                          <a:effectLst/>
                        </a:rPr>
                        <a:t>Nome Classe</a:t>
                      </a:r>
                      <a:endParaRPr lang="pt-LU" sz="7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050" marR="45050" marT="30034" marB="30034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pt-PT" sz="700">
                          <a:effectLst/>
                        </a:rPr>
                        <a:t>Atributos</a:t>
                      </a:r>
                      <a:endParaRPr lang="pt-LU" sz="7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050" marR="45050" marT="30034" marB="30034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pt-PT" sz="700">
                          <a:effectLst/>
                        </a:rPr>
                        <a:t>Descrição</a:t>
                      </a:r>
                      <a:endParaRPr lang="pt-LU" sz="7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050" marR="45050" marT="30034" marB="30034"/>
                </a:tc>
                <a:extLst>
                  <a:ext uri="{0D108BD9-81ED-4DB2-BD59-A6C34878D82A}">
                    <a16:rowId xmlns:a16="http://schemas.microsoft.com/office/drawing/2014/main" val="816549817"/>
                  </a:ext>
                </a:extLst>
              </a:tr>
              <a:tr h="66099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pt-PT" sz="700">
                          <a:effectLst/>
                        </a:rPr>
                        <a:t>Utente</a:t>
                      </a:r>
                      <a:endParaRPr lang="pt-LU" sz="7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42" marR="37542" marT="22525" marB="225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pt-PT" sz="700">
                          <a:effectLst/>
                        </a:rPr>
                        <a:t>id_utente, nome, data_nascimento, genero, contato, nr_identificacao</a:t>
                      </a:r>
                      <a:endParaRPr lang="pt-LU" sz="7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42" marR="37542" marT="22525" marB="225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pt-PT" sz="700">
                          <a:effectLst/>
                        </a:rPr>
                        <a:t>Representa o paciente do centro de saúde. Possui um número de identificação único para garantir a integridade dos dados.</a:t>
                      </a:r>
                      <a:endParaRPr lang="pt-LU" sz="7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42" marR="37542" marT="22525" marB="22525"/>
                </a:tc>
                <a:extLst>
                  <a:ext uri="{0D108BD9-81ED-4DB2-BD59-A6C34878D82A}">
                    <a16:rowId xmlns:a16="http://schemas.microsoft.com/office/drawing/2014/main" val="2431694016"/>
                  </a:ext>
                </a:extLst>
              </a:tr>
              <a:tr h="81305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pt-PT" sz="700">
                          <a:effectLst/>
                        </a:rPr>
                        <a:t>Medico</a:t>
                      </a:r>
                      <a:endParaRPr lang="pt-LU" sz="7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42" marR="37542" marT="22525" marB="225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pt-PT" sz="700">
                          <a:effectLst/>
                        </a:rPr>
                        <a:t>Subclasses: MedicoFamilia (gere listas de utentes) e MedicoEspecialista (gere referências hospitalares).</a:t>
                      </a:r>
                      <a:endParaRPr lang="pt-LU" sz="7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42" marR="37542" marT="22525" marB="225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pt-PT" sz="700">
                          <a:effectLst/>
                        </a:rPr>
                        <a:t>Representa os profissionais de saúde. Utilizamos a herança para distinguir entre especialistas e médico de família</a:t>
                      </a:r>
                      <a:endParaRPr lang="pt-LU" sz="7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42" marR="37542" marT="22525" marB="22525"/>
                </a:tc>
                <a:extLst>
                  <a:ext uri="{0D108BD9-81ED-4DB2-BD59-A6C34878D82A}">
                    <a16:rowId xmlns:a16="http://schemas.microsoft.com/office/drawing/2014/main" val="865733098"/>
                  </a:ext>
                </a:extLst>
              </a:tr>
              <a:tr h="67392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pt-PT" sz="700">
                          <a:effectLst/>
                        </a:rPr>
                        <a:t>Consulta</a:t>
                      </a:r>
                      <a:endParaRPr lang="pt-LU" sz="7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42" marR="37542" marT="22525" marB="225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pt-PT" sz="700">
                          <a:effectLst/>
                        </a:rPr>
                        <a:t>id_consulta, data_hora, tipo, descricao</a:t>
                      </a:r>
                      <a:endParaRPr lang="pt-LU" sz="7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42" marR="37542" marT="22525" marB="225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pt-PT" sz="700">
                          <a:effectLst/>
                        </a:rPr>
                        <a:t>É o núcleo central do sistema. Une o Utente Registar o que aconteceu no atendimento. Está associada obrigatoriamente a uma Triagem prévia.</a:t>
                      </a:r>
                      <a:endParaRPr lang="pt-LU" sz="7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42" marR="37542" marT="22525" marB="22525"/>
                </a:tc>
                <a:extLst>
                  <a:ext uri="{0D108BD9-81ED-4DB2-BD59-A6C34878D82A}">
                    <a16:rowId xmlns:a16="http://schemas.microsoft.com/office/drawing/2014/main" val="1116971280"/>
                  </a:ext>
                </a:extLst>
              </a:tr>
              <a:tr h="67392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pt-PT" sz="700" dirty="0">
                          <a:effectLst/>
                        </a:rPr>
                        <a:t>Triagem</a:t>
                      </a:r>
                      <a:endParaRPr lang="pt-LU" sz="7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42" marR="37542" marT="22525" marB="225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pt-PT" sz="700">
                          <a:effectLst/>
                        </a:rPr>
                        <a:t>id_triagem, data_hora, sinais_vitais, sintomas, nivel_urgencia (do tipo enum NivelTriagem).</a:t>
                      </a:r>
                      <a:endParaRPr lang="pt-LU" sz="7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42" marR="37542" marT="22525" marB="225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pt-PT" sz="700">
                          <a:effectLst/>
                        </a:rPr>
                        <a:t>Faz parte da Consulta. Se a consulta for eliminada, a prescrição perde o seu contexto.</a:t>
                      </a:r>
                      <a:endParaRPr lang="pt-LU" sz="7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42" marR="37542" marT="22525" marB="22525"/>
                </a:tc>
                <a:extLst>
                  <a:ext uri="{0D108BD9-81ED-4DB2-BD59-A6C34878D82A}">
                    <a16:rowId xmlns:a16="http://schemas.microsoft.com/office/drawing/2014/main" val="2485364571"/>
                  </a:ext>
                </a:extLst>
              </a:tr>
              <a:tr h="51981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pt-PT" sz="700">
                          <a:effectLst/>
                        </a:rPr>
                        <a:t>Prescriçoes</a:t>
                      </a:r>
                      <a:endParaRPr lang="pt-LU" sz="7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42" marR="37542" marT="22525" marB="225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pt-PT" sz="700">
                          <a:effectLst/>
                        </a:rPr>
                        <a:t>id_prescricao, data_emissao, validade, duracao</a:t>
                      </a:r>
                      <a:endParaRPr lang="pt-LU" sz="7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42" marR="37542" marT="22525" marB="225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pt-PT" sz="700">
                          <a:effectLst/>
                        </a:rPr>
                        <a:t>Faz parte da Consulta. Se a consulta for eliminada, a prescrição perde o seu contexto.</a:t>
                      </a:r>
                      <a:endParaRPr lang="pt-LU" sz="7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42" marR="37542" marT="22525" marB="22525"/>
                </a:tc>
                <a:extLst>
                  <a:ext uri="{0D108BD9-81ED-4DB2-BD59-A6C34878D82A}">
                    <a16:rowId xmlns:a16="http://schemas.microsoft.com/office/drawing/2014/main" val="3147864538"/>
                  </a:ext>
                </a:extLst>
              </a:tr>
              <a:tr h="66099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pt-PT" sz="700">
                          <a:effectLst/>
                        </a:rPr>
                        <a:t>preferencia</a:t>
                      </a:r>
                      <a:endParaRPr lang="pt-LU" sz="7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42" marR="37542" marT="22525" marB="225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pt-PT" sz="700">
                          <a:effectLst/>
                        </a:rPr>
                        <a:t>id_referencia, data_emissao, prioridade, motivo, tipo_referencia</a:t>
                      </a:r>
                      <a:endParaRPr lang="pt-LU" sz="7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42" marR="37542" marT="22525" marB="225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pt-PT" sz="700">
                          <a:effectLst/>
                        </a:rPr>
                        <a:t>Encaminhamento para hospitais ou especialidades externas.</a:t>
                      </a:r>
                      <a:endParaRPr lang="pt-LU" sz="7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42" marR="37542" marT="22525" marB="22525"/>
                </a:tc>
                <a:extLst>
                  <a:ext uri="{0D108BD9-81ED-4DB2-BD59-A6C34878D82A}">
                    <a16:rowId xmlns:a16="http://schemas.microsoft.com/office/drawing/2014/main" val="3450846547"/>
                  </a:ext>
                </a:extLst>
              </a:tr>
              <a:tr h="113623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pt-PT" sz="700">
                          <a:effectLst/>
                        </a:rPr>
                        <a:t>GestorDeCentro</a:t>
                      </a:r>
                      <a:endParaRPr lang="pt-LU" sz="7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42" marR="37542" marT="22525" marB="225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pt-PT" sz="700">
                          <a:effectLst/>
                        </a:rPr>
                        <a:t>Conceitos Transversais (Elementos Auxiliares)</a:t>
                      </a:r>
                      <a:endParaRPr lang="pt-LU" sz="700"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pt-PT" sz="700">
                          <a:effectLst/>
                        </a:rPr>
                        <a:t>NivelTriagem (Enumeração): Define os níveis de urgência: Vermelho, Laranja, Amarelo, Verde, Azul.</a:t>
                      </a:r>
                      <a:endParaRPr lang="pt-LU" sz="7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42" marR="37542" marT="22525" marB="225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pt-PT" sz="700">
                          <a:effectLst/>
                        </a:rPr>
                        <a:t>Classe administrativa responsável pelo controlo global.</a:t>
                      </a:r>
                      <a:endParaRPr lang="pt-LU" sz="7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42" marR="37542" marT="22525" marB="22525"/>
                </a:tc>
                <a:extLst>
                  <a:ext uri="{0D108BD9-81ED-4DB2-BD59-A6C34878D82A}">
                    <a16:rowId xmlns:a16="http://schemas.microsoft.com/office/drawing/2014/main" val="2410606825"/>
                  </a:ext>
                </a:extLst>
              </a:tr>
              <a:tr h="21160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pt-PT" sz="700">
                          <a:effectLst/>
                        </a:rPr>
                        <a:t> </a:t>
                      </a:r>
                      <a:endParaRPr lang="pt-LU" sz="7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42" marR="37542" marT="22525" marB="225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pt-PT" sz="700">
                          <a:effectLst/>
                        </a:rPr>
                        <a:t> </a:t>
                      </a:r>
                      <a:endParaRPr lang="pt-LU" sz="7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42" marR="37542" marT="22525" marB="225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pt-PT" sz="700">
                          <a:effectLst/>
                        </a:rPr>
                        <a:t> </a:t>
                      </a:r>
                      <a:endParaRPr lang="pt-LU" sz="7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42" marR="37542" marT="22525" marB="22525"/>
                </a:tc>
                <a:extLst>
                  <a:ext uri="{0D108BD9-81ED-4DB2-BD59-A6C34878D82A}">
                    <a16:rowId xmlns:a16="http://schemas.microsoft.com/office/drawing/2014/main" val="3825070419"/>
                  </a:ext>
                </a:extLst>
              </a:tr>
              <a:tr h="21160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pt-PT" sz="700">
                          <a:effectLst/>
                        </a:rPr>
                        <a:t> </a:t>
                      </a:r>
                      <a:endParaRPr lang="pt-LU" sz="7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42" marR="37542" marT="22525" marB="225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pt-PT" sz="700">
                          <a:effectLst/>
                        </a:rPr>
                        <a:t> </a:t>
                      </a:r>
                      <a:endParaRPr lang="pt-LU" sz="7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42" marR="37542" marT="22525" marB="225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pt-PT" sz="700">
                          <a:effectLst/>
                        </a:rPr>
                        <a:t> </a:t>
                      </a:r>
                      <a:endParaRPr lang="pt-LU" sz="7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42" marR="37542" marT="22525" marB="22525"/>
                </a:tc>
                <a:extLst>
                  <a:ext uri="{0D108BD9-81ED-4DB2-BD59-A6C34878D82A}">
                    <a16:rowId xmlns:a16="http://schemas.microsoft.com/office/drawing/2014/main" val="995440375"/>
                  </a:ext>
                </a:extLst>
              </a:tr>
              <a:tr h="21160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pt-PT" sz="700">
                          <a:effectLst/>
                        </a:rPr>
                        <a:t> </a:t>
                      </a:r>
                      <a:endParaRPr lang="pt-LU" sz="7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42" marR="37542" marT="22525" marB="225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pt-PT" sz="700">
                          <a:effectLst/>
                        </a:rPr>
                        <a:t> </a:t>
                      </a:r>
                      <a:endParaRPr lang="pt-LU" sz="7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42" marR="37542" marT="22525" marB="225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pt-PT" sz="700">
                          <a:effectLst/>
                        </a:rPr>
                        <a:t> </a:t>
                      </a:r>
                      <a:endParaRPr lang="pt-LU" sz="7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42" marR="37542" marT="22525" marB="22525"/>
                </a:tc>
                <a:extLst>
                  <a:ext uri="{0D108BD9-81ED-4DB2-BD59-A6C34878D82A}">
                    <a16:rowId xmlns:a16="http://schemas.microsoft.com/office/drawing/2014/main" val="3043318616"/>
                  </a:ext>
                </a:extLst>
              </a:tr>
              <a:tr h="21160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pt-PT" sz="700">
                          <a:effectLst/>
                        </a:rPr>
                        <a:t> </a:t>
                      </a:r>
                      <a:endParaRPr lang="pt-LU" sz="7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42" marR="37542" marT="22525" marB="225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pt-PT" sz="700">
                          <a:effectLst/>
                        </a:rPr>
                        <a:t> </a:t>
                      </a:r>
                      <a:endParaRPr lang="pt-LU" sz="7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42" marR="37542" marT="22525" marB="225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lang="pt-PT" sz="700" dirty="0">
                          <a:effectLst/>
                        </a:rPr>
                        <a:t> </a:t>
                      </a:r>
                      <a:endParaRPr lang="pt-LU" sz="7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542" marR="37542" marT="22525" marB="22525"/>
                </a:tc>
                <a:extLst>
                  <a:ext uri="{0D108BD9-81ED-4DB2-BD59-A6C34878D82A}">
                    <a16:rowId xmlns:a16="http://schemas.microsoft.com/office/drawing/2014/main" val="22610346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416196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9D22C5-0C9E-B582-A8FE-B45E70A01E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1" y="849782"/>
            <a:ext cx="3213716" cy="2727709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Obrigado</a:t>
            </a:r>
          </a:p>
        </p:txBody>
      </p:sp>
    </p:spTree>
    <p:extLst>
      <p:ext uri="{BB962C8B-B14F-4D97-AF65-F5344CB8AC3E}">
        <p14:creationId xmlns:p14="http://schemas.microsoft.com/office/powerpoint/2010/main" val="1973173046"/>
      </p:ext>
    </p:extLst>
  </p:cSld>
  <p:clrMapOvr>
    <a:masterClrMapping/>
  </p:clrMapOvr>
</p:sld>
</file>

<file path=ppt/theme/theme1.xml><?xml version="1.0" encoding="utf-8"?>
<a:theme xmlns:a="http://schemas.openxmlformats.org/drawingml/2006/main" name="Personalizado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2893082_TF78438558_Win32" id="{A0A66991-B50D-4EFF-8B65-B5A110988411}" vid="{FC4C1A53-E1A3-4FF8-9D09-7590C6BEDD1B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{61A1194A-A305-481A-A083-3440FE283EFE}TF8a9b5915-b8c7-461e-8cdd-693d48b5e323c6a6caed_win32-b6157470412c</Template>
  <TotalTime>20</TotalTime>
  <Words>597</Words>
  <Application>Microsoft Office PowerPoint</Application>
  <PresentationFormat>Widescreen</PresentationFormat>
  <Paragraphs>114</Paragraphs>
  <Slides>7</Slides>
  <Notes>7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3" baseType="lpstr">
      <vt:lpstr>Arial</vt:lpstr>
      <vt:lpstr>Arial Black</vt:lpstr>
      <vt:lpstr>Calibri</vt:lpstr>
      <vt:lpstr>Perpetua</vt:lpstr>
      <vt:lpstr>Sabon Next LT</vt:lpstr>
      <vt:lpstr>Personalizado</vt:lpstr>
      <vt:lpstr>Sistema de Gestão do Centro de Saúde Público</vt:lpstr>
      <vt:lpstr>introdução</vt:lpstr>
      <vt:lpstr>Análise dos requisitos</vt:lpstr>
      <vt:lpstr>Diagrama dse classe</vt:lpstr>
      <vt:lpstr>Arquitetura da aplicação </vt:lpstr>
      <vt:lpstr>Descrição das classes</vt:lpstr>
      <vt:lpstr>Obrigado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Geraldo Paciência</dc:creator>
  <cp:lastModifiedBy>Geraldo Paciência</cp:lastModifiedBy>
  <cp:revision>1</cp:revision>
  <dcterms:created xsi:type="dcterms:W3CDTF">2026-06-21T22:01:22Z</dcterms:created>
  <dcterms:modified xsi:type="dcterms:W3CDTF">2026-06-21T22:21:30Z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